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4"/>
  </p:notesMasterIdLst>
  <p:sldIdLst>
    <p:sldId id="552" r:id="rId2"/>
    <p:sldId id="257" r:id="rId3"/>
    <p:sldId id="566" r:id="rId4"/>
    <p:sldId id="586" r:id="rId5"/>
    <p:sldId id="588" r:id="rId6"/>
    <p:sldId id="591" r:id="rId7"/>
    <p:sldId id="582" r:id="rId8"/>
    <p:sldId id="592" r:id="rId9"/>
    <p:sldId id="578" r:id="rId10"/>
    <p:sldId id="589" r:id="rId11"/>
    <p:sldId id="292" r:id="rId12"/>
    <p:sldId id="568" r:id="rId13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107C8D-4A1E-49BB-8FB2-39165B33AC62}" v="85" dt="2025-11-10T06:12:45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89964" autoAdjust="0"/>
  </p:normalViewPr>
  <p:slideViewPr>
    <p:cSldViewPr snapToGrid="0" showGuides="1">
      <p:cViewPr varScale="1">
        <p:scale>
          <a:sx n="78" d="100"/>
          <a:sy n="78" d="100"/>
        </p:scale>
        <p:origin x="1622" y="7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1102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01D2FB-AB41-46F1-99E5-4B4DF884AE83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DA7628EF-2493-400A-8C5E-CF11D8E4B696}">
      <dgm:prSet phldrT="[Text]" custT="1"/>
      <dgm:spPr/>
      <dgm:t>
        <a:bodyPr/>
        <a:lstStyle/>
        <a:p>
          <a:r>
            <a:rPr lang="en-US" sz="1600" dirty="0"/>
            <a:t> Develop an NLP-based system for efficient sentiment classification.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02DBC8-D2C3-4314-B26B-5D78E58D34D9}" type="parTrans" cxnId="{21F12345-66F6-4415-8187-1EED3E56A989}">
      <dgm:prSet/>
      <dgm:spPr/>
      <dgm:t>
        <a:bodyPr/>
        <a:lstStyle/>
        <a:p>
          <a:endParaRPr lang="en-IN"/>
        </a:p>
      </dgm:t>
    </dgm:pt>
    <dgm:pt modelId="{D7BF52A6-F0ED-4F20-91C6-86B572A0B9B8}" type="sibTrans" cxnId="{21F12345-66F6-4415-8187-1EED3E56A989}">
      <dgm:prSet/>
      <dgm:spPr/>
      <dgm:t>
        <a:bodyPr/>
        <a:lstStyle/>
        <a:p>
          <a:endParaRPr lang="en-IN"/>
        </a:p>
      </dgm:t>
    </dgm:pt>
    <dgm:pt modelId="{D5CCED10-AD0E-47E1-AEEA-2F42AF7BD47B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Provide an easy-to-use interface for real-time analysis.</a:t>
          </a:r>
          <a:endParaRPr lang="en-IN" sz="1600" b="0" i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723EC7-D367-4D54-94A5-5CF619889EB7}" type="sibTrans" cxnId="{3700D28B-B206-4DE1-87A5-DAF2B38DC41F}">
      <dgm:prSet/>
      <dgm:spPr/>
      <dgm:t>
        <a:bodyPr/>
        <a:lstStyle/>
        <a:p>
          <a:endParaRPr lang="en-IN"/>
        </a:p>
      </dgm:t>
    </dgm:pt>
    <dgm:pt modelId="{539B07B6-3678-4719-97D1-94F5BC3B2AF1}" type="parTrans" cxnId="{3700D28B-B206-4DE1-87A5-DAF2B38DC41F}">
      <dgm:prSet/>
      <dgm:spPr/>
      <dgm:t>
        <a:bodyPr/>
        <a:lstStyle/>
        <a:p>
          <a:endParaRPr lang="en-IN"/>
        </a:p>
      </dgm:t>
    </dgm:pt>
    <dgm:pt modelId="{560D7F13-F60D-423C-9978-84B769D48CEF}">
      <dgm:prSet phldrT="[Text]" custT="1"/>
      <dgm:spPr/>
      <dgm:t>
        <a:bodyPr/>
        <a:lstStyle/>
        <a:p>
          <a:r>
            <a:rPr lang="en-US" sz="1600" dirty="0"/>
            <a:t>Enable visualization of sentiment distributions through interactive charts.</a:t>
          </a:r>
          <a:endParaRPr lang="en-IN" sz="1600" i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FD4F59-1F55-4926-85E0-B14F8D057263}" type="sibTrans" cxnId="{81974213-4A4D-4DEB-9413-B0569BEE8C2F}">
      <dgm:prSet/>
      <dgm:spPr/>
      <dgm:t>
        <a:bodyPr/>
        <a:lstStyle/>
        <a:p>
          <a:endParaRPr lang="en-IN"/>
        </a:p>
      </dgm:t>
    </dgm:pt>
    <dgm:pt modelId="{85122DDD-5159-4FB0-BBED-36579B53D42B}" type="parTrans" cxnId="{81974213-4A4D-4DEB-9413-B0569BEE8C2F}">
      <dgm:prSet/>
      <dgm:spPr/>
      <dgm:t>
        <a:bodyPr/>
        <a:lstStyle/>
        <a:p>
          <a:endParaRPr lang="en-IN"/>
        </a:p>
      </dgm:t>
    </dgm:pt>
    <dgm:pt modelId="{DD75089E-2B03-4DDD-A424-F4E39DBBD27C}" type="pres">
      <dgm:prSet presAssocID="{C501D2FB-AB41-46F1-99E5-4B4DF884AE83}" presName="linear" presStyleCnt="0">
        <dgm:presLayoutVars>
          <dgm:dir/>
          <dgm:animLvl val="lvl"/>
          <dgm:resizeHandles val="exact"/>
        </dgm:presLayoutVars>
      </dgm:prSet>
      <dgm:spPr/>
    </dgm:pt>
    <dgm:pt modelId="{6A6D435B-8C01-4118-8C51-9B79CC131C7E}" type="pres">
      <dgm:prSet presAssocID="{DA7628EF-2493-400A-8C5E-CF11D8E4B696}" presName="parentLin" presStyleCnt="0"/>
      <dgm:spPr/>
    </dgm:pt>
    <dgm:pt modelId="{ED319EA1-6B69-4DF3-822B-9B6CA3A18E48}" type="pres">
      <dgm:prSet presAssocID="{DA7628EF-2493-400A-8C5E-CF11D8E4B696}" presName="parentLeftMargin" presStyleLbl="node1" presStyleIdx="0" presStyleCnt="3"/>
      <dgm:spPr/>
    </dgm:pt>
    <dgm:pt modelId="{1A085701-ED31-4F68-BAD7-8B9D736E20F5}" type="pres">
      <dgm:prSet presAssocID="{DA7628EF-2493-400A-8C5E-CF11D8E4B696}" presName="parentText" presStyleLbl="node1" presStyleIdx="0" presStyleCnt="3" custScaleX="124002" custScaleY="131076" custLinFactNeighborX="-5011" custLinFactNeighborY="-152">
        <dgm:presLayoutVars>
          <dgm:chMax val="0"/>
          <dgm:bulletEnabled val="1"/>
        </dgm:presLayoutVars>
      </dgm:prSet>
      <dgm:spPr/>
    </dgm:pt>
    <dgm:pt modelId="{05ADF7FF-AF58-4E3F-8445-C23B56EF1B54}" type="pres">
      <dgm:prSet presAssocID="{DA7628EF-2493-400A-8C5E-CF11D8E4B696}" presName="negativeSpace" presStyleCnt="0"/>
      <dgm:spPr/>
    </dgm:pt>
    <dgm:pt modelId="{0D8D6357-64E3-47DE-8BB0-09FEA2A9C0F1}" type="pres">
      <dgm:prSet presAssocID="{DA7628EF-2493-400A-8C5E-CF11D8E4B696}" presName="childText" presStyleLbl="conFgAcc1" presStyleIdx="0" presStyleCnt="3">
        <dgm:presLayoutVars>
          <dgm:bulletEnabled val="1"/>
        </dgm:presLayoutVars>
      </dgm:prSet>
      <dgm:spPr>
        <a:solidFill>
          <a:schemeClr val="bg1">
            <a:alpha val="90000"/>
          </a:schemeClr>
        </a:solidFill>
      </dgm:spPr>
    </dgm:pt>
    <dgm:pt modelId="{5B658744-3EC5-4481-BC97-6D6583DF4BE7}" type="pres">
      <dgm:prSet presAssocID="{D7BF52A6-F0ED-4F20-91C6-86B572A0B9B8}" presName="spaceBetweenRectangles" presStyleCnt="0"/>
      <dgm:spPr/>
    </dgm:pt>
    <dgm:pt modelId="{EC7FF8C4-D001-4A4E-9139-9EACF97E15A4}" type="pres">
      <dgm:prSet presAssocID="{D5CCED10-AD0E-47E1-AEEA-2F42AF7BD47B}" presName="parentLin" presStyleCnt="0"/>
      <dgm:spPr/>
    </dgm:pt>
    <dgm:pt modelId="{EE044A3A-8780-4DD6-B205-99183F11FD5E}" type="pres">
      <dgm:prSet presAssocID="{D5CCED10-AD0E-47E1-AEEA-2F42AF7BD47B}" presName="parentLeftMargin" presStyleLbl="node1" presStyleIdx="0" presStyleCnt="3"/>
      <dgm:spPr/>
    </dgm:pt>
    <dgm:pt modelId="{CC27D3A9-D704-4260-94EB-B5E3D73EB6F2}" type="pres">
      <dgm:prSet presAssocID="{D5CCED10-AD0E-47E1-AEEA-2F42AF7BD47B}" presName="parentText" presStyleLbl="node1" presStyleIdx="1" presStyleCnt="3" custScaleX="123619" custScaleY="129344" custLinFactNeighborY="1234">
        <dgm:presLayoutVars>
          <dgm:chMax val="0"/>
          <dgm:bulletEnabled val="1"/>
        </dgm:presLayoutVars>
      </dgm:prSet>
      <dgm:spPr/>
    </dgm:pt>
    <dgm:pt modelId="{75B3C5D9-5644-42DD-BBF0-A8A27B4BD38E}" type="pres">
      <dgm:prSet presAssocID="{D5CCED10-AD0E-47E1-AEEA-2F42AF7BD47B}" presName="negativeSpace" presStyleCnt="0"/>
      <dgm:spPr/>
    </dgm:pt>
    <dgm:pt modelId="{C13835D3-AE21-4115-A352-CF3DBF4A2139}" type="pres">
      <dgm:prSet presAssocID="{D5CCED10-AD0E-47E1-AEEA-2F42AF7BD47B}" presName="childText" presStyleLbl="conFgAcc1" presStyleIdx="1" presStyleCnt="3">
        <dgm:presLayoutVars>
          <dgm:bulletEnabled val="1"/>
        </dgm:presLayoutVars>
      </dgm:prSet>
      <dgm:spPr>
        <a:solidFill>
          <a:schemeClr val="bg1">
            <a:alpha val="90000"/>
          </a:schemeClr>
        </a:solidFill>
      </dgm:spPr>
    </dgm:pt>
    <dgm:pt modelId="{6306AB82-F568-4946-961E-594A68B1CCBC}" type="pres">
      <dgm:prSet presAssocID="{24723EC7-D367-4D54-94A5-5CF619889EB7}" presName="spaceBetweenRectangles" presStyleCnt="0"/>
      <dgm:spPr/>
    </dgm:pt>
    <dgm:pt modelId="{E0DF181D-D032-444D-8B98-FE1DA6B625AF}" type="pres">
      <dgm:prSet presAssocID="{560D7F13-F60D-423C-9978-84B769D48CEF}" presName="parentLin" presStyleCnt="0"/>
      <dgm:spPr/>
    </dgm:pt>
    <dgm:pt modelId="{1A821864-D1D0-49A0-86B3-551656BDE979}" type="pres">
      <dgm:prSet presAssocID="{560D7F13-F60D-423C-9978-84B769D48CEF}" presName="parentLeftMargin" presStyleLbl="node1" presStyleIdx="1" presStyleCnt="3"/>
      <dgm:spPr/>
    </dgm:pt>
    <dgm:pt modelId="{2C33C286-59E7-40F5-9FB8-937FAA358E7F}" type="pres">
      <dgm:prSet presAssocID="{560D7F13-F60D-423C-9978-84B769D48CEF}" presName="parentText" presStyleLbl="node1" presStyleIdx="2" presStyleCnt="3" custScaleX="126694" custScaleY="128201" custLinFactNeighborY="1332">
        <dgm:presLayoutVars>
          <dgm:chMax val="0"/>
          <dgm:bulletEnabled val="1"/>
        </dgm:presLayoutVars>
      </dgm:prSet>
      <dgm:spPr/>
    </dgm:pt>
    <dgm:pt modelId="{CAFC442D-EF1F-47FE-9F04-9FEECF5E0328}" type="pres">
      <dgm:prSet presAssocID="{560D7F13-F60D-423C-9978-84B769D48CEF}" presName="negativeSpace" presStyleCnt="0"/>
      <dgm:spPr/>
    </dgm:pt>
    <dgm:pt modelId="{FB253460-DF4E-4C7F-A9AB-836542C4A54B}" type="pres">
      <dgm:prSet presAssocID="{560D7F13-F60D-423C-9978-84B769D48CE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1974213-4A4D-4DEB-9413-B0569BEE8C2F}" srcId="{C501D2FB-AB41-46F1-99E5-4B4DF884AE83}" destId="{560D7F13-F60D-423C-9978-84B769D48CEF}" srcOrd="2" destOrd="0" parTransId="{85122DDD-5159-4FB0-BBED-36579B53D42B}" sibTransId="{28FD4F59-1F55-4926-85E0-B14F8D057263}"/>
    <dgm:cxn modelId="{B9084814-390A-4C53-B1F0-6F043C15136E}" type="presOf" srcId="{C501D2FB-AB41-46F1-99E5-4B4DF884AE83}" destId="{DD75089E-2B03-4DDD-A424-F4E39DBBD27C}" srcOrd="0" destOrd="0" presId="urn:microsoft.com/office/officeart/2005/8/layout/list1"/>
    <dgm:cxn modelId="{26792364-ED3F-4B5D-9FB6-2F944F8F61E3}" type="presOf" srcId="{DA7628EF-2493-400A-8C5E-CF11D8E4B696}" destId="{ED319EA1-6B69-4DF3-822B-9B6CA3A18E48}" srcOrd="0" destOrd="0" presId="urn:microsoft.com/office/officeart/2005/8/layout/list1"/>
    <dgm:cxn modelId="{21F12345-66F6-4415-8187-1EED3E56A989}" srcId="{C501D2FB-AB41-46F1-99E5-4B4DF884AE83}" destId="{DA7628EF-2493-400A-8C5E-CF11D8E4B696}" srcOrd="0" destOrd="0" parTransId="{8002DBC8-D2C3-4314-B26B-5D78E58D34D9}" sibTransId="{D7BF52A6-F0ED-4F20-91C6-86B572A0B9B8}"/>
    <dgm:cxn modelId="{E6E93671-93B3-4417-9C99-AF36D9AC0FCD}" type="presOf" srcId="{D5CCED10-AD0E-47E1-AEEA-2F42AF7BD47B}" destId="{CC27D3A9-D704-4260-94EB-B5E3D73EB6F2}" srcOrd="1" destOrd="0" presId="urn:microsoft.com/office/officeart/2005/8/layout/list1"/>
    <dgm:cxn modelId="{C00AFE7F-FDE5-464A-9BA8-BCE1C46A6249}" type="presOf" srcId="{D5CCED10-AD0E-47E1-AEEA-2F42AF7BD47B}" destId="{EE044A3A-8780-4DD6-B205-99183F11FD5E}" srcOrd="0" destOrd="0" presId="urn:microsoft.com/office/officeart/2005/8/layout/list1"/>
    <dgm:cxn modelId="{FE0A1580-B60F-42CC-9205-65552ED78766}" type="presOf" srcId="{560D7F13-F60D-423C-9978-84B769D48CEF}" destId="{1A821864-D1D0-49A0-86B3-551656BDE979}" srcOrd="0" destOrd="0" presId="urn:microsoft.com/office/officeart/2005/8/layout/list1"/>
    <dgm:cxn modelId="{3700D28B-B206-4DE1-87A5-DAF2B38DC41F}" srcId="{C501D2FB-AB41-46F1-99E5-4B4DF884AE83}" destId="{D5CCED10-AD0E-47E1-AEEA-2F42AF7BD47B}" srcOrd="1" destOrd="0" parTransId="{539B07B6-3678-4719-97D1-94F5BC3B2AF1}" sibTransId="{24723EC7-D367-4D54-94A5-5CF619889EB7}"/>
    <dgm:cxn modelId="{CB3B239C-F601-4CA7-A48D-3A26D104EF9F}" type="presOf" srcId="{DA7628EF-2493-400A-8C5E-CF11D8E4B696}" destId="{1A085701-ED31-4F68-BAD7-8B9D736E20F5}" srcOrd="1" destOrd="0" presId="urn:microsoft.com/office/officeart/2005/8/layout/list1"/>
    <dgm:cxn modelId="{396248DF-7EFB-4DE6-B22E-D60EC550B093}" type="presOf" srcId="{560D7F13-F60D-423C-9978-84B769D48CEF}" destId="{2C33C286-59E7-40F5-9FB8-937FAA358E7F}" srcOrd="1" destOrd="0" presId="urn:microsoft.com/office/officeart/2005/8/layout/list1"/>
    <dgm:cxn modelId="{FC2FD799-9D63-489B-981C-F098C4A74753}" type="presParOf" srcId="{DD75089E-2B03-4DDD-A424-F4E39DBBD27C}" destId="{6A6D435B-8C01-4118-8C51-9B79CC131C7E}" srcOrd="0" destOrd="0" presId="urn:microsoft.com/office/officeart/2005/8/layout/list1"/>
    <dgm:cxn modelId="{8914D26B-4476-4C21-B723-B14FE21DA35E}" type="presParOf" srcId="{6A6D435B-8C01-4118-8C51-9B79CC131C7E}" destId="{ED319EA1-6B69-4DF3-822B-9B6CA3A18E48}" srcOrd="0" destOrd="0" presId="urn:microsoft.com/office/officeart/2005/8/layout/list1"/>
    <dgm:cxn modelId="{2311650D-1E63-4326-9B08-C303AC0B9521}" type="presParOf" srcId="{6A6D435B-8C01-4118-8C51-9B79CC131C7E}" destId="{1A085701-ED31-4F68-BAD7-8B9D736E20F5}" srcOrd="1" destOrd="0" presId="urn:microsoft.com/office/officeart/2005/8/layout/list1"/>
    <dgm:cxn modelId="{F75B4AD9-A7E8-4E29-BD89-6F070CD76AC4}" type="presParOf" srcId="{DD75089E-2B03-4DDD-A424-F4E39DBBD27C}" destId="{05ADF7FF-AF58-4E3F-8445-C23B56EF1B54}" srcOrd="1" destOrd="0" presId="urn:microsoft.com/office/officeart/2005/8/layout/list1"/>
    <dgm:cxn modelId="{2BE96243-4CD4-4682-B74B-C969D000B15C}" type="presParOf" srcId="{DD75089E-2B03-4DDD-A424-F4E39DBBD27C}" destId="{0D8D6357-64E3-47DE-8BB0-09FEA2A9C0F1}" srcOrd="2" destOrd="0" presId="urn:microsoft.com/office/officeart/2005/8/layout/list1"/>
    <dgm:cxn modelId="{53C0C16D-A7DA-44F3-A26B-4B285C0F1E6F}" type="presParOf" srcId="{DD75089E-2B03-4DDD-A424-F4E39DBBD27C}" destId="{5B658744-3EC5-4481-BC97-6D6583DF4BE7}" srcOrd="3" destOrd="0" presId="urn:microsoft.com/office/officeart/2005/8/layout/list1"/>
    <dgm:cxn modelId="{17B8BFE2-D24F-4F21-97BF-C1A57027ED91}" type="presParOf" srcId="{DD75089E-2B03-4DDD-A424-F4E39DBBD27C}" destId="{EC7FF8C4-D001-4A4E-9139-9EACF97E15A4}" srcOrd="4" destOrd="0" presId="urn:microsoft.com/office/officeart/2005/8/layout/list1"/>
    <dgm:cxn modelId="{8672B097-075D-4FC8-8D3E-78E7221E726B}" type="presParOf" srcId="{EC7FF8C4-D001-4A4E-9139-9EACF97E15A4}" destId="{EE044A3A-8780-4DD6-B205-99183F11FD5E}" srcOrd="0" destOrd="0" presId="urn:microsoft.com/office/officeart/2005/8/layout/list1"/>
    <dgm:cxn modelId="{ED3F2133-449E-4465-A528-4D0102195C63}" type="presParOf" srcId="{EC7FF8C4-D001-4A4E-9139-9EACF97E15A4}" destId="{CC27D3A9-D704-4260-94EB-B5E3D73EB6F2}" srcOrd="1" destOrd="0" presId="urn:microsoft.com/office/officeart/2005/8/layout/list1"/>
    <dgm:cxn modelId="{918C7158-6449-4B29-96CC-DFB1011B7B22}" type="presParOf" srcId="{DD75089E-2B03-4DDD-A424-F4E39DBBD27C}" destId="{75B3C5D9-5644-42DD-BBF0-A8A27B4BD38E}" srcOrd="5" destOrd="0" presId="urn:microsoft.com/office/officeart/2005/8/layout/list1"/>
    <dgm:cxn modelId="{AADC30B7-3EB9-4123-8A5A-77A4385B8919}" type="presParOf" srcId="{DD75089E-2B03-4DDD-A424-F4E39DBBD27C}" destId="{C13835D3-AE21-4115-A352-CF3DBF4A2139}" srcOrd="6" destOrd="0" presId="urn:microsoft.com/office/officeart/2005/8/layout/list1"/>
    <dgm:cxn modelId="{B85DD740-9BA3-4975-8D58-9BEF665652BD}" type="presParOf" srcId="{DD75089E-2B03-4DDD-A424-F4E39DBBD27C}" destId="{6306AB82-F568-4946-961E-594A68B1CCBC}" srcOrd="7" destOrd="0" presId="urn:microsoft.com/office/officeart/2005/8/layout/list1"/>
    <dgm:cxn modelId="{17B8CB67-F5AA-4969-93FE-04068DADBBB3}" type="presParOf" srcId="{DD75089E-2B03-4DDD-A424-F4E39DBBD27C}" destId="{E0DF181D-D032-444D-8B98-FE1DA6B625AF}" srcOrd="8" destOrd="0" presId="urn:microsoft.com/office/officeart/2005/8/layout/list1"/>
    <dgm:cxn modelId="{A0D9FCC3-3138-47BB-9991-EA032AA32DBB}" type="presParOf" srcId="{E0DF181D-D032-444D-8B98-FE1DA6B625AF}" destId="{1A821864-D1D0-49A0-86B3-551656BDE979}" srcOrd="0" destOrd="0" presId="urn:microsoft.com/office/officeart/2005/8/layout/list1"/>
    <dgm:cxn modelId="{4D7D729C-2AA3-4D32-8158-A769ED7C943E}" type="presParOf" srcId="{E0DF181D-D032-444D-8B98-FE1DA6B625AF}" destId="{2C33C286-59E7-40F5-9FB8-937FAA358E7F}" srcOrd="1" destOrd="0" presId="urn:microsoft.com/office/officeart/2005/8/layout/list1"/>
    <dgm:cxn modelId="{68573048-848E-4A93-A8F3-25361047DDBA}" type="presParOf" srcId="{DD75089E-2B03-4DDD-A424-F4E39DBBD27C}" destId="{CAFC442D-EF1F-47FE-9F04-9FEECF5E0328}" srcOrd="9" destOrd="0" presId="urn:microsoft.com/office/officeart/2005/8/layout/list1"/>
    <dgm:cxn modelId="{274694CF-E132-42EB-9D32-B4A00407C64D}" type="presParOf" srcId="{DD75089E-2B03-4DDD-A424-F4E39DBBD27C}" destId="{FB253460-DF4E-4C7F-A9AB-836542C4A54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01D2FB-AB41-46F1-99E5-4B4DF884AE83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DA7628EF-2493-400A-8C5E-CF11D8E4B696}">
      <dgm:prSet phldrT="[Text]" custT="1"/>
      <dgm:spPr/>
      <dgm:t>
        <a:bodyPr/>
        <a:lstStyle/>
        <a:p>
          <a:r>
            <a:rPr lang="en-US" sz="1600" dirty="0"/>
            <a:t>Reduce manual effort in analyzing customer or social data.</a:t>
          </a:r>
          <a:endParaRPr lang="en-IN" sz="1600" i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02DBC8-D2C3-4314-B26B-5D78E58D34D9}" type="parTrans" cxnId="{21F12345-66F6-4415-8187-1EED3E56A989}">
      <dgm:prSet/>
      <dgm:spPr/>
      <dgm:t>
        <a:bodyPr/>
        <a:lstStyle/>
        <a:p>
          <a:endParaRPr lang="en-IN"/>
        </a:p>
      </dgm:t>
    </dgm:pt>
    <dgm:pt modelId="{D7BF52A6-F0ED-4F20-91C6-86B572A0B9B8}" type="sibTrans" cxnId="{21F12345-66F6-4415-8187-1EED3E56A989}">
      <dgm:prSet/>
      <dgm:spPr/>
      <dgm:t>
        <a:bodyPr/>
        <a:lstStyle/>
        <a:p>
          <a:endParaRPr lang="en-IN"/>
        </a:p>
      </dgm:t>
    </dgm:pt>
    <dgm:pt modelId="{D5CCED10-AD0E-47E1-AEEA-2F42AF7BD47B}">
      <dgm:prSet phldrT="[Text]" custT="1"/>
      <dgm:spPr/>
      <dgm:t>
        <a:bodyPr/>
        <a:lstStyle/>
        <a:p>
          <a:r>
            <a:rPr lang="en-US" sz="1600" dirty="0"/>
            <a:t>Support data-driven strategies for businesses and researchers.</a:t>
          </a:r>
          <a:endParaRPr lang="en-IN" sz="1600" i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9B07B6-3678-4719-97D1-94F5BC3B2AF1}" type="parTrans" cxnId="{3700D28B-B206-4DE1-87A5-DAF2B38DC41F}">
      <dgm:prSet/>
      <dgm:spPr/>
      <dgm:t>
        <a:bodyPr/>
        <a:lstStyle/>
        <a:p>
          <a:endParaRPr lang="en-IN"/>
        </a:p>
      </dgm:t>
    </dgm:pt>
    <dgm:pt modelId="{24723EC7-D367-4D54-94A5-5CF619889EB7}" type="sibTrans" cxnId="{3700D28B-B206-4DE1-87A5-DAF2B38DC41F}">
      <dgm:prSet/>
      <dgm:spPr/>
      <dgm:t>
        <a:bodyPr/>
        <a:lstStyle/>
        <a:p>
          <a:endParaRPr lang="en-IN"/>
        </a:p>
      </dgm:t>
    </dgm:pt>
    <dgm:pt modelId="{DD75089E-2B03-4DDD-A424-F4E39DBBD27C}" type="pres">
      <dgm:prSet presAssocID="{C501D2FB-AB41-46F1-99E5-4B4DF884AE83}" presName="linear" presStyleCnt="0">
        <dgm:presLayoutVars>
          <dgm:dir/>
          <dgm:animLvl val="lvl"/>
          <dgm:resizeHandles val="exact"/>
        </dgm:presLayoutVars>
      </dgm:prSet>
      <dgm:spPr/>
    </dgm:pt>
    <dgm:pt modelId="{6A6D435B-8C01-4118-8C51-9B79CC131C7E}" type="pres">
      <dgm:prSet presAssocID="{DA7628EF-2493-400A-8C5E-CF11D8E4B696}" presName="parentLin" presStyleCnt="0"/>
      <dgm:spPr/>
    </dgm:pt>
    <dgm:pt modelId="{ED319EA1-6B69-4DF3-822B-9B6CA3A18E48}" type="pres">
      <dgm:prSet presAssocID="{DA7628EF-2493-400A-8C5E-CF11D8E4B696}" presName="parentLeftMargin" presStyleLbl="node1" presStyleIdx="0" presStyleCnt="2"/>
      <dgm:spPr/>
    </dgm:pt>
    <dgm:pt modelId="{1A085701-ED31-4F68-BAD7-8B9D736E20F5}" type="pres">
      <dgm:prSet presAssocID="{DA7628EF-2493-400A-8C5E-CF11D8E4B696}" presName="parentText" presStyleLbl="node1" presStyleIdx="0" presStyleCnt="2" custScaleX="124002" custScaleY="141600" custLinFactNeighborX="4857" custLinFactNeighborY="-1388">
        <dgm:presLayoutVars>
          <dgm:chMax val="0"/>
          <dgm:bulletEnabled val="1"/>
        </dgm:presLayoutVars>
      </dgm:prSet>
      <dgm:spPr/>
    </dgm:pt>
    <dgm:pt modelId="{05ADF7FF-AF58-4E3F-8445-C23B56EF1B54}" type="pres">
      <dgm:prSet presAssocID="{DA7628EF-2493-400A-8C5E-CF11D8E4B696}" presName="negativeSpace" presStyleCnt="0"/>
      <dgm:spPr/>
    </dgm:pt>
    <dgm:pt modelId="{0D8D6357-64E3-47DE-8BB0-09FEA2A9C0F1}" type="pres">
      <dgm:prSet presAssocID="{DA7628EF-2493-400A-8C5E-CF11D8E4B696}" presName="childText" presStyleLbl="conFgAcc1" presStyleIdx="0" presStyleCnt="2">
        <dgm:presLayoutVars>
          <dgm:bulletEnabled val="1"/>
        </dgm:presLayoutVars>
      </dgm:prSet>
      <dgm:spPr>
        <a:solidFill>
          <a:schemeClr val="bg1">
            <a:alpha val="90000"/>
          </a:schemeClr>
        </a:solidFill>
      </dgm:spPr>
    </dgm:pt>
    <dgm:pt modelId="{5B658744-3EC5-4481-BC97-6D6583DF4BE7}" type="pres">
      <dgm:prSet presAssocID="{D7BF52A6-F0ED-4F20-91C6-86B572A0B9B8}" presName="spaceBetweenRectangles" presStyleCnt="0"/>
      <dgm:spPr/>
    </dgm:pt>
    <dgm:pt modelId="{EC7FF8C4-D001-4A4E-9139-9EACF97E15A4}" type="pres">
      <dgm:prSet presAssocID="{D5CCED10-AD0E-47E1-AEEA-2F42AF7BD47B}" presName="parentLin" presStyleCnt="0"/>
      <dgm:spPr/>
    </dgm:pt>
    <dgm:pt modelId="{EE044A3A-8780-4DD6-B205-99183F11FD5E}" type="pres">
      <dgm:prSet presAssocID="{D5CCED10-AD0E-47E1-AEEA-2F42AF7BD47B}" presName="parentLeftMargin" presStyleLbl="node1" presStyleIdx="0" presStyleCnt="2"/>
      <dgm:spPr/>
    </dgm:pt>
    <dgm:pt modelId="{CC27D3A9-D704-4260-94EB-B5E3D73EB6F2}" type="pres">
      <dgm:prSet presAssocID="{D5CCED10-AD0E-47E1-AEEA-2F42AF7BD47B}" presName="parentText" presStyleLbl="node1" presStyleIdx="1" presStyleCnt="2" custScaleX="123619" custScaleY="135823">
        <dgm:presLayoutVars>
          <dgm:chMax val="0"/>
          <dgm:bulletEnabled val="1"/>
        </dgm:presLayoutVars>
      </dgm:prSet>
      <dgm:spPr/>
    </dgm:pt>
    <dgm:pt modelId="{75B3C5D9-5644-42DD-BBF0-A8A27B4BD38E}" type="pres">
      <dgm:prSet presAssocID="{D5CCED10-AD0E-47E1-AEEA-2F42AF7BD47B}" presName="negativeSpace" presStyleCnt="0"/>
      <dgm:spPr/>
    </dgm:pt>
    <dgm:pt modelId="{C13835D3-AE21-4115-A352-CF3DBF4A2139}" type="pres">
      <dgm:prSet presAssocID="{D5CCED10-AD0E-47E1-AEEA-2F42AF7BD47B}" presName="childText" presStyleLbl="conFgAcc1" presStyleIdx="1" presStyleCnt="2">
        <dgm:presLayoutVars>
          <dgm:bulletEnabled val="1"/>
        </dgm:presLayoutVars>
      </dgm:prSet>
      <dgm:spPr>
        <a:solidFill>
          <a:schemeClr val="bg1">
            <a:alpha val="90000"/>
          </a:schemeClr>
        </a:solidFill>
      </dgm:spPr>
    </dgm:pt>
  </dgm:ptLst>
  <dgm:cxnLst>
    <dgm:cxn modelId="{B9084814-390A-4C53-B1F0-6F043C15136E}" type="presOf" srcId="{C501D2FB-AB41-46F1-99E5-4B4DF884AE83}" destId="{DD75089E-2B03-4DDD-A424-F4E39DBBD27C}" srcOrd="0" destOrd="0" presId="urn:microsoft.com/office/officeart/2005/8/layout/list1"/>
    <dgm:cxn modelId="{26792364-ED3F-4B5D-9FB6-2F944F8F61E3}" type="presOf" srcId="{DA7628EF-2493-400A-8C5E-CF11D8E4B696}" destId="{ED319EA1-6B69-4DF3-822B-9B6CA3A18E48}" srcOrd="0" destOrd="0" presId="urn:microsoft.com/office/officeart/2005/8/layout/list1"/>
    <dgm:cxn modelId="{21F12345-66F6-4415-8187-1EED3E56A989}" srcId="{C501D2FB-AB41-46F1-99E5-4B4DF884AE83}" destId="{DA7628EF-2493-400A-8C5E-CF11D8E4B696}" srcOrd="0" destOrd="0" parTransId="{8002DBC8-D2C3-4314-B26B-5D78E58D34D9}" sibTransId="{D7BF52A6-F0ED-4F20-91C6-86B572A0B9B8}"/>
    <dgm:cxn modelId="{E6E93671-93B3-4417-9C99-AF36D9AC0FCD}" type="presOf" srcId="{D5CCED10-AD0E-47E1-AEEA-2F42AF7BD47B}" destId="{CC27D3A9-D704-4260-94EB-B5E3D73EB6F2}" srcOrd="1" destOrd="0" presId="urn:microsoft.com/office/officeart/2005/8/layout/list1"/>
    <dgm:cxn modelId="{C00AFE7F-FDE5-464A-9BA8-BCE1C46A6249}" type="presOf" srcId="{D5CCED10-AD0E-47E1-AEEA-2F42AF7BD47B}" destId="{EE044A3A-8780-4DD6-B205-99183F11FD5E}" srcOrd="0" destOrd="0" presId="urn:microsoft.com/office/officeart/2005/8/layout/list1"/>
    <dgm:cxn modelId="{3700D28B-B206-4DE1-87A5-DAF2B38DC41F}" srcId="{C501D2FB-AB41-46F1-99E5-4B4DF884AE83}" destId="{D5CCED10-AD0E-47E1-AEEA-2F42AF7BD47B}" srcOrd="1" destOrd="0" parTransId="{539B07B6-3678-4719-97D1-94F5BC3B2AF1}" sibTransId="{24723EC7-D367-4D54-94A5-5CF619889EB7}"/>
    <dgm:cxn modelId="{CB3B239C-F601-4CA7-A48D-3A26D104EF9F}" type="presOf" srcId="{DA7628EF-2493-400A-8C5E-CF11D8E4B696}" destId="{1A085701-ED31-4F68-BAD7-8B9D736E20F5}" srcOrd="1" destOrd="0" presId="urn:microsoft.com/office/officeart/2005/8/layout/list1"/>
    <dgm:cxn modelId="{FC2FD799-9D63-489B-981C-F098C4A74753}" type="presParOf" srcId="{DD75089E-2B03-4DDD-A424-F4E39DBBD27C}" destId="{6A6D435B-8C01-4118-8C51-9B79CC131C7E}" srcOrd="0" destOrd="0" presId="urn:microsoft.com/office/officeart/2005/8/layout/list1"/>
    <dgm:cxn modelId="{8914D26B-4476-4C21-B723-B14FE21DA35E}" type="presParOf" srcId="{6A6D435B-8C01-4118-8C51-9B79CC131C7E}" destId="{ED319EA1-6B69-4DF3-822B-9B6CA3A18E48}" srcOrd="0" destOrd="0" presId="urn:microsoft.com/office/officeart/2005/8/layout/list1"/>
    <dgm:cxn modelId="{2311650D-1E63-4326-9B08-C303AC0B9521}" type="presParOf" srcId="{6A6D435B-8C01-4118-8C51-9B79CC131C7E}" destId="{1A085701-ED31-4F68-BAD7-8B9D736E20F5}" srcOrd="1" destOrd="0" presId="urn:microsoft.com/office/officeart/2005/8/layout/list1"/>
    <dgm:cxn modelId="{F75B4AD9-A7E8-4E29-BD89-6F070CD76AC4}" type="presParOf" srcId="{DD75089E-2B03-4DDD-A424-F4E39DBBD27C}" destId="{05ADF7FF-AF58-4E3F-8445-C23B56EF1B54}" srcOrd="1" destOrd="0" presId="urn:microsoft.com/office/officeart/2005/8/layout/list1"/>
    <dgm:cxn modelId="{2BE96243-4CD4-4682-B74B-C969D000B15C}" type="presParOf" srcId="{DD75089E-2B03-4DDD-A424-F4E39DBBD27C}" destId="{0D8D6357-64E3-47DE-8BB0-09FEA2A9C0F1}" srcOrd="2" destOrd="0" presId="urn:microsoft.com/office/officeart/2005/8/layout/list1"/>
    <dgm:cxn modelId="{53C0C16D-A7DA-44F3-A26B-4B285C0F1E6F}" type="presParOf" srcId="{DD75089E-2B03-4DDD-A424-F4E39DBBD27C}" destId="{5B658744-3EC5-4481-BC97-6D6583DF4BE7}" srcOrd="3" destOrd="0" presId="urn:microsoft.com/office/officeart/2005/8/layout/list1"/>
    <dgm:cxn modelId="{17B8BFE2-D24F-4F21-97BF-C1A57027ED91}" type="presParOf" srcId="{DD75089E-2B03-4DDD-A424-F4E39DBBD27C}" destId="{EC7FF8C4-D001-4A4E-9139-9EACF97E15A4}" srcOrd="4" destOrd="0" presId="urn:microsoft.com/office/officeart/2005/8/layout/list1"/>
    <dgm:cxn modelId="{8672B097-075D-4FC8-8D3E-78E7221E726B}" type="presParOf" srcId="{EC7FF8C4-D001-4A4E-9139-9EACF97E15A4}" destId="{EE044A3A-8780-4DD6-B205-99183F11FD5E}" srcOrd="0" destOrd="0" presId="urn:microsoft.com/office/officeart/2005/8/layout/list1"/>
    <dgm:cxn modelId="{ED3F2133-449E-4465-A528-4D0102195C63}" type="presParOf" srcId="{EC7FF8C4-D001-4A4E-9139-9EACF97E15A4}" destId="{CC27D3A9-D704-4260-94EB-B5E3D73EB6F2}" srcOrd="1" destOrd="0" presId="urn:microsoft.com/office/officeart/2005/8/layout/list1"/>
    <dgm:cxn modelId="{918C7158-6449-4B29-96CC-DFB1011B7B22}" type="presParOf" srcId="{DD75089E-2B03-4DDD-A424-F4E39DBBD27C}" destId="{75B3C5D9-5644-42DD-BBF0-A8A27B4BD38E}" srcOrd="5" destOrd="0" presId="urn:microsoft.com/office/officeart/2005/8/layout/list1"/>
    <dgm:cxn modelId="{AADC30B7-3EB9-4123-8A5A-77A4385B8919}" type="presParOf" srcId="{DD75089E-2B03-4DDD-A424-F4E39DBBD27C}" destId="{C13835D3-AE21-4115-A352-CF3DBF4A213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D6357-64E3-47DE-8BB0-09FEA2A9C0F1}">
      <dsp:nvSpPr>
        <dsp:cNvPr id="0" name=""/>
        <dsp:cNvSpPr/>
      </dsp:nvSpPr>
      <dsp:spPr>
        <a:xfrm>
          <a:off x="0" y="669829"/>
          <a:ext cx="8097982" cy="630000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85701-ED31-4F68-BAD7-8B9D736E20F5}">
      <dsp:nvSpPr>
        <dsp:cNvPr id="0" name=""/>
        <dsp:cNvSpPr/>
      </dsp:nvSpPr>
      <dsp:spPr>
        <a:xfrm>
          <a:off x="384609" y="70366"/>
          <a:ext cx="7029161" cy="9673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259" tIns="0" rIns="21425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Develop an NLP-based system for efficient sentiment classification.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1831" y="117588"/>
        <a:ext cx="6934717" cy="872896"/>
      </dsp:txXfrm>
    </dsp:sp>
    <dsp:sp modelId="{C13835D3-AE21-4115-A352-CF3DBF4A2139}">
      <dsp:nvSpPr>
        <dsp:cNvPr id="0" name=""/>
        <dsp:cNvSpPr/>
      </dsp:nvSpPr>
      <dsp:spPr>
        <a:xfrm>
          <a:off x="0" y="2020388"/>
          <a:ext cx="8097982" cy="630000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7D3A9-D704-4260-94EB-B5E3D73EB6F2}">
      <dsp:nvSpPr>
        <dsp:cNvPr id="0" name=""/>
        <dsp:cNvSpPr/>
      </dsp:nvSpPr>
      <dsp:spPr>
        <a:xfrm>
          <a:off x="404899" y="1443936"/>
          <a:ext cx="7007451" cy="95455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259" tIns="0" rIns="21425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Provide an easy-to-use interface for real-time analysis.</a:t>
          </a:r>
          <a:endParaRPr lang="en-IN" sz="1600" b="0" i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1497" y="1490534"/>
        <a:ext cx="6914255" cy="861362"/>
      </dsp:txXfrm>
    </dsp:sp>
    <dsp:sp modelId="{FB253460-DF4E-4C7F-A9AB-836542C4A54B}">
      <dsp:nvSpPr>
        <dsp:cNvPr id="0" name=""/>
        <dsp:cNvSpPr/>
      </dsp:nvSpPr>
      <dsp:spPr>
        <a:xfrm>
          <a:off x="0" y="3362511"/>
          <a:ext cx="8097982" cy="6300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3C286-59E7-40F5-9FB8-937FAA358E7F}">
      <dsp:nvSpPr>
        <dsp:cNvPr id="0" name=""/>
        <dsp:cNvSpPr/>
      </dsp:nvSpPr>
      <dsp:spPr>
        <a:xfrm>
          <a:off x="404899" y="2795218"/>
          <a:ext cx="7181760" cy="94612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259" tIns="0" rIns="21425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Enable visualization of sentiment distributions through interactive charts.</a:t>
          </a:r>
          <a:endParaRPr lang="en-IN" sz="1600" i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1085" y="2841404"/>
        <a:ext cx="7089388" cy="8537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D6357-64E3-47DE-8BB0-09FEA2A9C0F1}">
      <dsp:nvSpPr>
        <dsp:cNvPr id="0" name=""/>
        <dsp:cNvSpPr/>
      </dsp:nvSpPr>
      <dsp:spPr>
        <a:xfrm>
          <a:off x="0" y="1031249"/>
          <a:ext cx="8097982" cy="932400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85701-ED31-4F68-BAD7-8B9D736E20F5}">
      <dsp:nvSpPr>
        <dsp:cNvPr id="0" name=""/>
        <dsp:cNvSpPr/>
      </dsp:nvSpPr>
      <dsp:spPr>
        <a:xfrm>
          <a:off x="424565" y="15597"/>
          <a:ext cx="7029161" cy="154661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259" tIns="0" rIns="21425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Reduce manual effort in analyzing customer or social data.</a:t>
          </a:r>
          <a:endParaRPr lang="en-IN" sz="1600" i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0064" y="91096"/>
        <a:ext cx="6878163" cy="1395613"/>
      </dsp:txXfrm>
    </dsp:sp>
    <dsp:sp modelId="{C13835D3-AE21-4115-A352-CF3DBF4A2139}">
      <dsp:nvSpPr>
        <dsp:cNvPr id="0" name=""/>
        <dsp:cNvSpPr/>
      </dsp:nvSpPr>
      <dsp:spPr>
        <a:xfrm>
          <a:off x="0" y="3100842"/>
          <a:ext cx="8097982" cy="932400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7D3A9-D704-4260-94EB-B5E3D73EB6F2}">
      <dsp:nvSpPr>
        <dsp:cNvPr id="0" name=""/>
        <dsp:cNvSpPr/>
      </dsp:nvSpPr>
      <dsp:spPr>
        <a:xfrm>
          <a:off x="404899" y="2163449"/>
          <a:ext cx="7007451" cy="14835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259" tIns="0" rIns="21425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Support data-driven strategies for businesses and researchers.</a:t>
          </a:r>
          <a:endParaRPr lang="en-IN" sz="1600" i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7318" y="2235868"/>
        <a:ext cx="6862613" cy="1338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37871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4687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cc8714c89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5cc8714c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2467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5cc8714c89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5cc8714c89_2_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107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5cc8714c89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5cc8714c89_0_3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170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>
            <a:spLocks noGrp="1"/>
          </p:cNvSpPr>
          <p:nvPr>
            <p:ph type="ctrTitle"/>
          </p:nvPr>
        </p:nvSpPr>
        <p:spPr>
          <a:xfrm>
            <a:off x="803554" y="214706"/>
            <a:ext cx="753689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5816578"/>
            <a:ext cx="1062142" cy="1041418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7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006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Google Shape;8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Google Shape;9;p27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pandas.pydata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atplotlib.org/stable/" TargetMode="External"/><Relationship Id="rId5" Type="http://schemas.openxmlformats.org/officeDocument/2006/relationships/hyperlink" Target="https://huggingface.co/transformers" TargetMode="External"/><Relationship Id="rId4" Type="http://schemas.openxmlformats.org/officeDocument/2006/relationships/hyperlink" Target="https://docs.streamlit.io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631407-1168-82B4-1720-965C29D6AEC2}"/>
              </a:ext>
            </a:extLst>
          </p:cNvPr>
          <p:cNvSpPr/>
          <p:nvPr/>
        </p:nvSpPr>
        <p:spPr>
          <a:xfrm>
            <a:off x="215153" y="154135"/>
            <a:ext cx="8678476" cy="53192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Google Shape;47;p1"/>
          <p:cNvSpPr txBox="1"/>
          <p:nvPr/>
        </p:nvSpPr>
        <p:spPr>
          <a:xfrm>
            <a:off x="1280160" y="5943053"/>
            <a:ext cx="7496601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2514600" y="3840480"/>
            <a:ext cx="373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9445" marR="0" lvl="0" indent="-5187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63893" y="1217833"/>
            <a:ext cx="8412867" cy="1107996"/>
          </a:xfrm>
        </p:spPr>
        <p:txBody>
          <a:bodyPr/>
          <a:lstStyle/>
          <a:p>
            <a:pPr algn="ctr"/>
            <a:r>
              <a:rPr lang="fr-FR" sz="3600" dirty="0" err="1">
                <a:solidFill>
                  <a:schemeClr val="tx1"/>
                </a:solidFill>
              </a:rPr>
              <a:t>SentimentScope</a:t>
            </a:r>
            <a:r>
              <a:rPr lang="fr-FR" sz="3600" dirty="0">
                <a:solidFill>
                  <a:schemeClr val="tx1"/>
                </a:solidFill>
              </a:rPr>
              <a:t> – Smart </a:t>
            </a:r>
            <a:r>
              <a:rPr lang="fr-FR" sz="3600" dirty="0" err="1">
                <a:solidFill>
                  <a:schemeClr val="tx1"/>
                </a:solidFill>
              </a:rPr>
              <a:t>Text</a:t>
            </a:r>
            <a:r>
              <a:rPr lang="fr-FR" sz="3600" dirty="0">
                <a:solidFill>
                  <a:schemeClr val="tx1"/>
                </a:solidFill>
              </a:rPr>
              <a:t> Sentiment Analyzer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35495" y="2528597"/>
            <a:ext cx="54425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Lokesh Kumawat        MITU22BTCS0411</a:t>
            </a:r>
          </a:p>
          <a:p>
            <a:pPr algn="ctr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Sylvan Furtado      MITU22BTCS0653</a:t>
            </a:r>
          </a:p>
          <a:p>
            <a:pPr algn="ctr"/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Sahil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Kshirsagar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     MITU22BTCS0688</a:t>
            </a:r>
          </a:p>
          <a:p>
            <a:pPr algn="ctr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Kush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Sugandhi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      MITU22BTCS0406</a:t>
            </a:r>
          </a:p>
          <a:p>
            <a:pPr algn="ctr"/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Guided By</a:t>
            </a:r>
          </a:p>
          <a:p>
            <a:pPr algn="ctr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Prof. Nilesh N Thorat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678" y="213449"/>
            <a:ext cx="52726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itchFamily="18" charset="0"/>
                <a:cs typeface="Times New Roman" pitchFamily="18" charset="0"/>
              </a:rPr>
              <a:t>Project Presentation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5cc8714c89_0_4"/>
          <p:cNvSpPr txBox="1">
            <a:spLocks noGrp="1"/>
          </p:cNvSpPr>
          <p:nvPr>
            <p:ph type="title"/>
          </p:nvPr>
        </p:nvSpPr>
        <p:spPr>
          <a:xfrm>
            <a:off x="499927" y="625508"/>
            <a:ext cx="693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Outline</a:t>
            </a:r>
          </a:p>
        </p:txBody>
      </p:sp>
      <p:sp>
        <p:nvSpPr>
          <p:cNvPr id="64" name="Google Shape;64;g5cc8714c89_0_4"/>
          <p:cNvSpPr txBox="1"/>
          <p:nvPr/>
        </p:nvSpPr>
        <p:spPr>
          <a:xfrm>
            <a:off x="499927" y="1620616"/>
            <a:ext cx="7848600" cy="477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just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1 INTRODUCTION	</a:t>
            </a:r>
          </a:p>
          <a:p>
            <a:pPr marL="76200" lvl="0" algn="just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2 PROBLEM STATEMENT</a:t>
            </a:r>
          </a:p>
          <a:p>
            <a:pPr marL="76200" lvl="0" algn="just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3 OBJECTIVES	</a:t>
            </a:r>
          </a:p>
          <a:p>
            <a:pPr marL="76200" lvl="0" algn="just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4 TOOLS AND LANGUAGES</a:t>
            </a:r>
          </a:p>
          <a:p>
            <a:pPr marL="76200" lvl="0" algn="just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5 </a:t>
            </a:r>
            <a:r>
              <a:rPr lang="en-US" sz="2400" dirty="0">
                <a:latin typeface="Calibri" panose="020F0502020204030204" pitchFamily="34" charset="0"/>
              </a:rPr>
              <a:t>SYSTEM FLOW</a:t>
            </a:r>
          </a:p>
          <a:p>
            <a:pPr marL="76200" lvl="0" algn="just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6 CONCLUSION </a:t>
            </a:r>
          </a:p>
          <a:p>
            <a:pPr marL="76200" lvl="0" algn="just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7 FUTURE WORK</a:t>
            </a:r>
          </a:p>
          <a:p>
            <a:pPr marL="76200" lvl="0" algn="just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8 REFERENCES</a:t>
            </a:r>
          </a:p>
          <a:p>
            <a:pPr marL="76200" lvl="0" algn="just">
              <a:buClr>
                <a:schemeClr val="dk1"/>
              </a:buClr>
              <a:buSzPts val="2400"/>
            </a:pPr>
            <a:r>
              <a:rPr lang="en-US" sz="2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	</a:t>
            </a:r>
          </a:p>
          <a:p>
            <a:pPr marL="76200" lvl="0" algn="just">
              <a:buClr>
                <a:schemeClr val="dk1"/>
              </a:buClr>
              <a:buSzPts val="2400"/>
            </a:pPr>
            <a:endParaRPr lang="en-US"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62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US" sz="2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Google Shape;47;p1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TextShape 1"/>
          <p:cNvSpPr txBox="1"/>
          <p:nvPr/>
        </p:nvSpPr>
        <p:spPr>
          <a:xfrm>
            <a:off x="999853" y="334851"/>
            <a:ext cx="7427454" cy="35655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entury Schoolbook" panose="02040604050505020304"/>
                <a:cs typeface="Times New Roman" panose="02020603050405020304" pitchFamily="18" charset="0"/>
              </a:rPr>
              <a:t>1. Introduction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Google Shape;47;p1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943" y="1246640"/>
            <a:ext cx="742745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SentimentScope</a:t>
            </a:r>
            <a:r>
              <a:rPr lang="en-US" sz="2000" dirty="0"/>
              <a:t> is an intelligent text sentiment analysis platform designed to automatically detect emotions in text data—such as reviews, social media posts, and comments—using advanced </a:t>
            </a:r>
            <a:r>
              <a:rPr lang="en-US" sz="2000" b="1" dirty="0"/>
              <a:t>Natural Language Processing (NLP)</a:t>
            </a:r>
            <a:r>
              <a:rPr lang="en-US" sz="2000" dirty="0"/>
              <a:t> and </a:t>
            </a:r>
            <a:r>
              <a:rPr lang="en-US" sz="2000" b="1" dirty="0"/>
              <a:t>Transformers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It provides accurate, real-time insights into public opinion, helping users and organizations make data-driven decisions.</a:t>
            </a:r>
            <a:br>
              <a:rPr lang="en-US" sz="2000" dirty="0"/>
            </a:br>
            <a:r>
              <a:rPr lang="en-US" sz="2000" dirty="0"/>
              <a:t>The system offers an intuitive web interface, instant visualization, and AI-powered analytics for better understanding of user sentiment.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TextShape 1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entury Schoolbook" panose="02040604050505020304"/>
                <a:cs typeface="Times New Roman" panose="02020603050405020304" pitchFamily="18" charset="0"/>
              </a:rPr>
              <a:t>2. Problem Statement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Google Shape;47;p1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17094" y="1197076"/>
            <a:ext cx="801021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2000" dirty="0"/>
              <a:t>Manually analyzing large volumes of text data for sentiment is </a:t>
            </a:r>
            <a:r>
              <a:rPr lang="en-US" sz="2000" b="1" dirty="0"/>
              <a:t>time-consuming</a:t>
            </a:r>
            <a:r>
              <a:rPr lang="en-US" sz="2000" dirty="0"/>
              <a:t>, </a:t>
            </a:r>
            <a:r>
              <a:rPr lang="en-US" sz="2000" b="1" dirty="0"/>
              <a:t>error-prone</a:t>
            </a:r>
            <a:r>
              <a:rPr lang="en-US" sz="2000" dirty="0"/>
              <a:t>, and </a:t>
            </a:r>
            <a:r>
              <a:rPr lang="en-US" sz="2000" b="1" dirty="0"/>
              <a:t>biased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Businesses and researchers need a fast, automated, and accurate method to process massive amounts of feedback data and derive actionable insights.</a:t>
            </a:r>
          </a:p>
          <a:p>
            <a:endParaRPr lang="en-US" sz="2000" b="1" dirty="0"/>
          </a:p>
          <a:p>
            <a:r>
              <a:rPr lang="en-US" sz="2000" b="1" dirty="0"/>
              <a:t>How </a:t>
            </a:r>
            <a:r>
              <a:rPr lang="en-US" sz="2000" b="1" dirty="0" err="1"/>
              <a:t>SentimentScope</a:t>
            </a:r>
            <a:r>
              <a:rPr lang="en-US" sz="2000" b="1" dirty="0"/>
              <a:t> Solves It: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Automates sentiment detection using NLP and deep learning.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Provides visual dashboards to easily interpret sentiment results.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Supports multiple data inputs (single text, CSV files).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Delivers real-time analytics for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TextShape 1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entury Schoolbook" panose="02040604050505020304"/>
                <a:cs typeface="Times New Roman" panose="02020603050405020304" pitchFamily="18" charset="0"/>
              </a:rPr>
              <a:t>3. Objectives</a:t>
            </a:r>
            <a:endParaRPr lang="en-US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47;p1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FC5F39A-F376-043F-CB0E-EA0E8E3B6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914687"/>
              </p:ext>
            </p:extLst>
          </p:nvPr>
        </p:nvGraphicFramePr>
        <p:xfrm>
          <a:off x="523009" y="1076466"/>
          <a:ext cx="809798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0EC35-87D2-E16F-188D-178CC49F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9C9B0-E75B-0802-9C85-93AA0B8ECA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8" name="Google Shape;47;p1">
            <a:extLst>
              <a:ext uri="{FF2B5EF4-FFF2-40B4-BE49-F238E27FC236}">
                <a16:creationId xmlns:a16="http://schemas.microsoft.com/office/drawing/2014/main" id="{D894BB3B-B6FE-2AE0-DCDF-EF088AF16CAA}"/>
              </a:ext>
            </a:extLst>
          </p:cNvPr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31E221-D94C-9336-F09D-C26BFF181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A1464B8-9D52-6B65-5DF0-2E03AF289A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3082715"/>
              </p:ext>
            </p:extLst>
          </p:nvPr>
        </p:nvGraphicFramePr>
        <p:xfrm>
          <a:off x="499927" y="652913"/>
          <a:ext cx="809798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7818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TextShape 1"/>
          <p:cNvSpPr txBox="1"/>
          <p:nvPr/>
        </p:nvSpPr>
        <p:spPr>
          <a:xfrm>
            <a:off x="319032" y="718213"/>
            <a:ext cx="8010213" cy="52228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entury Schoolbook" panose="02040604050505020304"/>
                <a:cs typeface="Times New Roman" panose="02020603050405020304" pitchFamily="18" charset="0"/>
              </a:rPr>
              <a:t>4. Tools and Languages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Google Shape;47;p1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E1B990-B41D-4E73-9D92-307C6E70F7C1}"/>
              </a:ext>
            </a:extLst>
          </p:cNvPr>
          <p:cNvSpPr txBox="1"/>
          <p:nvPr/>
        </p:nvSpPr>
        <p:spPr>
          <a:xfrm>
            <a:off x="319032" y="1357031"/>
            <a:ext cx="7912151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Frontend:</a:t>
            </a:r>
            <a:r>
              <a:rPr lang="en-IN" sz="2000" dirty="0"/>
              <a:t> </a:t>
            </a:r>
            <a:r>
              <a:rPr lang="en-IN" sz="2000" dirty="0" err="1"/>
              <a:t>Streamlit</a:t>
            </a:r>
            <a:r>
              <a:rPr lang="en-IN" sz="2000" dirty="0"/>
              <a:t> (Python-based web UI)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Backend:</a:t>
            </a:r>
            <a:r>
              <a:rPr lang="en-IN" sz="2000" dirty="0"/>
              <a:t> Python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Core Libraries:</a:t>
            </a:r>
            <a:r>
              <a:rPr lang="en-IN" sz="2000" dirty="0"/>
              <a:t> Transformers, Pandas, NumPy, Matplotlib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Model:</a:t>
            </a:r>
            <a:r>
              <a:rPr lang="en-IN" sz="2000" dirty="0"/>
              <a:t> Pre-trained Transformer (BERT-based) for sentiment classification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Deployment:</a:t>
            </a:r>
            <a:r>
              <a:rPr lang="en-IN" sz="2000" dirty="0"/>
              <a:t> Localhost / Cloud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Dataset:</a:t>
            </a:r>
            <a:r>
              <a:rPr lang="en-IN" sz="2000" dirty="0"/>
              <a:t> Stanford Sentiment Treebank (91% accuracy base model)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75ECD-437D-4C19-7844-628C8C3E0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33EB-CC99-E37E-B906-09EDB35E0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8" name="Google Shape;47;p1">
            <a:extLst>
              <a:ext uri="{FF2B5EF4-FFF2-40B4-BE49-F238E27FC236}">
                <a16:creationId xmlns:a16="http://schemas.microsoft.com/office/drawing/2014/main" id="{F0371F3C-4BB8-DE9D-8C94-70E28B766D27}"/>
              </a:ext>
            </a:extLst>
          </p:cNvPr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D4AAF0-1310-6A52-DF0A-66ACB06A4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C85CB9-C6BD-4A16-9EDF-3779E48F89AD}"/>
              </a:ext>
            </a:extLst>
          </p:cNvPr>
          <p:cNvSpPr txBox="1"/>
          <p:nvPr/>
        </p:nvSpPr>
        <p:spPr>
          <a:xfrm>
            <a:off x="358588" y="582904"/>
            <a:ext cx="5735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entury Schoolbook" panose="02040604050505020304"/>
                <a:cs typeface="Times New Roman" panose="02020603050405020304" pitchFamily="18" charset="0"/>
              </a:rPr>
              <a:t>5. System Flow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81CAF-1B37-3E65-8779-AA9C73D53A53}"/>
              </a:ext>
            </a:extLst>
          </p:cNvPr>
          <p:cNvSpPr/>
          <p:nvPr/>
        </p:nvSpPr>
        <p:spPr>
          <a:xfrm>
            <a:off x="1101213" y="3824748"/>
            <a:ext cx="6971071" cy="50144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9067B-7851-4E35-9680-79AB423C9E82}"/>
              </a:ext>
            </a:extLst>
          </p:cNvPr>
          <p:cNvSpPr txBox="1"/>
          <p:nvPr/>
        </p:nvSpPr>
        <p:spPr>
          <a:xfrm>
            <a:off x="358588" y="1700446"/>
            <a:ext cx="8399511" cy="255454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IN" sz="1600" b="1" dirty="0"/>
              <a:t>Step 1:</a:t>
            </a:r>
            <a:r>
              <a:rPr lang="en-IN" sz="1600" dirty="0"/>
              <a:t> User uploads text data (CSV or single input).</a:t>
            </a:r>
            <a:br>
              <a:rPr lang="en-IN" sz="1600" dirty="0"/>
            </a:br>
            <a:r>
              <a:rPr lang="en-IN" sz="1600" b="1" dirty="0"/>
              <a:t>Step 2:</a:t>
            </a:r>
            <a:r>
              <a:rPr lang="en-IN" sz="1600" dirty="0"/>
              <a:t> Data preprocessing removes noise and special characters.</a:t>
            </a:r>
            <a:br>
              <a:rPr lang="en-IN" sz="1600" dirty="0"/>
            </a:br>
            <a:r>
              <a:rPr lang="en-IN" sz="1600" b="1" dirty="0"/>
              <a:t>Step 3:</a:t>
            </a:r>
            <a:r>
              <a:rPr lang="en-IN" sz="1600" dirty="0"/>
              <a:t> Transformer-based NLP model predicts sentiment (Positive, Negative, Neutral).</a:t>
            </a:r>
            <a:br>
              <a:rPr lang="en-IN" sz="1600" dirty="0"/>
            </a:br>
            <a:r>
              <a:rPr lang="en-IN" sz="1600" b="1" dirty="0"/>
              <a:t>Step 4:</a:t>
            </a:r>
            <a:r>
              <a:rPr lang="en-IN" sz="1600" dirty="0"/>
              <a:t> Results are visualized through interactive charts and metrics.</a:t>
            </a:r>
            <a:br>
              <a:rPr lang="en-IN" sz="1600" dirty="0"/>
            </a:br>
            <a:r>
              <a:rPr lang="en-IN" sz="1600" b="1" dirty="0"/>
              <a:t>Step 5:</a:t>
            </a:r>
            <a:r>
              <a:rPr lang="en-IN" sz="1600" dirty="0"/>
              <a:t> Insights are displayed on an intuitive dashboard.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Workflow Summary</a:t>
            </a:r>
            <a:r>
              <a:rPr lang="en-IN" sz="1600" i="1" dirty="0"/>
              <a:t>:</a:t>
            </a:r>
          </a:p>
          <a:p>
            <a:pPr algn="ctr"/>
            <a:br>
              <a:rPr lang="en-IN" sz="1600" dirty="0"/>
            </a:br>
            <a:r>
              <a:rPr lang="en-IN" sz="1600" dirty="0"/>
              <a:t>Upload → Clean &amp; Preprocess → </a:t>
            </a:r>
            <a:r>
              <a:rPr lang="en-IN" sz="1600" dirty="0" err="1"/>
              <a:t>Analyze</a:t>
            </a:r>
            <a:r>
              <a:rPr lang="en-IN" sz="1600" dirty="0"/>
              <a:t> Sentiment → Display Insights</a:t>
            </a:r>
          </a:p>
        </p:txBody>
      </p:sp>
    </p:spTree>
    <p:extLst>
      <p:ext uri="{BB962C8B-B14F-4D97-AF65-F5344CB8AC3E}">
        <p14:creationId xmlns:p14="http://schemas.microsoft.com/office/powerpoint/2010/main" val="191800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TextShape 1"/>
          <p:cNvSpPr txBox="1"/>
          <p:nvPr/>
        </p:nvSpPr>
        <p:spPr>
          <a:xfrm>
            <a:off x="499927" y="807256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entury Schoolbook" panose="02040604050505020304"/>
                <a:cs typeface="Times New Roman" panose="02020603050405020304" pitchFamily="18" charset="0"/>
              </a:rPr>
              <a:t>6. Conclusion</a:t>
            </a:r>
            <a:endParaRPr lang="en-US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47;p1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3BA4682-B6E9-34AC-BBBC-86AC441C0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3" y="1844798"/>
            <a:ext cx="794324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SentimentScope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how NLP and AI can turn unstructured text data into meaningful insights. It enables accurate, fast, and bias-free sentiment analysis, empowering businesses and individuals to understand audience emotions and feedback in real time. The project shows the potential of AI-driven analytics for enhancing decision-making in marketing, product design, and public relations.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TextShape 1"/>
          <p:cNvSpPr txBox="1"/>
          <p:nvPr/>
        </p:nvSpPr>
        <p:spPr>
          <a:xfrm>
            <a:off x="473134" y="518244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entury Schoolbook" panose="02040604050505020304"/>
                <a:cs typeface="Times New Roman" panose="02020603050405020304" pitchFamily="18" charset="0"/>
              </a:rPr>
              <a:t>7. Future Work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Google Shape;47;p1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22200" y="3092347"/>
            <a:ext cx="45775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sz="1000" dirty="0">
              <a:effectLst/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IN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56B8170-CF9D-E9CB-599E-FC7C1C91B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27" y="1370121"/>
            <a:ext cx="700056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Data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analysis of social media streams (Twitter, Reddit APIs).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Deployment: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Host on AWS 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for global access.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Support: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analysis to multiple languages.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Extend beyond sentiment to identify emotions like joy, anger, or sadness.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Lightweight mobile interface for quick sentiment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5cc8714c89_2_35"/>
          <p:cNvSpPr txBox="1"/>
          <p:nvPr/>
        </p:nvSpPr>
        <p:spPr>
          <a:xfrm>
            <a:off x="375529" y="-1"/>
            <a:ext cx="3320708" cy="72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Century Schoolbook" panose="02040604050505020304"/>
                <a:cs typeface="Times New Roman" panose="02020603050405020304" pitchFamily="18" charset="0"/>
                <a:sym typeface="Century Schoolbook" panose="02040604050505020304"/>
              </a:rPr>
              <a:t>8.References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9" name="Google Shape;47;p1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A5AF1-57E4-4B33-C1D7-22CA25459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993" y="892138"/>
            <a:ext cx="899651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Socher, R. et al., Recursive Deep Models for Semantic Compositionality Over a Sentiment Treebank, EMNLP, 2013.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Devlin, J., Chang, M.-W., Lee, K., and Toutanova, K., BERT: Pre-training of Deep Bidirectional Transformers for Language Understanding, NAACL, 2019.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Liu, Y.,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Robustly Optimized BERT Pretraining Approach,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arXiv:1907.11692, 2019.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/>
              <a:t>Vaswani, A. et al., </a:t>
            </a:r>
            <a:r>
              <a:rPr lang="en-US" sz="1600" i="1" dirty="0"/>
              <a:t>Attention Is All You Need</a:t>
            </a:r>
            <a:r>
              <a:rPr lang="en-US" sz="1600" dirty="0"/>
              <a:t>, NIPS, 2017.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Bird, S., Klein, E., and Loper, E., Natural Language Processing with Python, O’Reilly Media, 2009.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Wolf, T. et al., Transformers: State-of-the-Art Natural Language Processing, EMNLP, 2020.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Pang, B., and Lee, L., Opinion Mining and Sentiment Analysis, Foundations and Trends in Information Retrieval, 2008.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 —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https://docs.streamlit.io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 Face Transformers —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https://huggingface.co/transformers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&amp; Pandas Documentation —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https://matplotlib.org/stable/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https://pandas.pydata.org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8" name="Google Shape;47;p1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Computer Science &amp; Engineering,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MITS</a:t>
            </a:r>
            <a:r>
              <a:rPr lang="en-IN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OC</a:t>
            </a:r>
            <a:r>
              <a:rPr 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, Loni </a:t>
            </a:r>
            <a:r>
              <a:rPr 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Kalbhor</a:t>
            </a:r>
            <a:endParaRPr lang="en-US" sz="1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92145" y="2374230"/>
            <a:ext cx="50904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Century Schoolbook" panose="02040604050505020304"/>
                <a:cs typeface="Times New Roman" panose="02020603050405020304" pitchFamily="18" charset="0"/>
                <a:sym typeface="Century Schoolbook" panose="02040604050505020304"/>
              </a:rPr>
              <a:t>Thank You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904</Words>
  <Application>Microsoft Office PowerPoint</Application>
  <PresentationFormat>On-screen Show (4:3)</PresentationFormat>
  <Paragraphs>98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Century Schoolbook</vt:lpstr>
      <vt:lpstr>Times New Roman</vt:lpstr>
      <vt:lpstr>Office Theme</vt:lpstr>
      <vt:lpstr>SentimentScope – Smart Text Sentiment Analyzer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comparison of multiple Machine Learning classifiers</dc:title>
  <dc:creator>Hp</dc:creator>
  <cp:lastModifiedBy>Sahil Kshirsagar</cp:lastModifiedBy>
  <cp:revision>1261</cp:revision>
  <dcterms:created xsi:type="dcterms:W3CDTF">2018-12-06T11:05:00Z</dcterms:created>
  <dcterms:modified xsi:type="dcterms:W3CDTF">2025-11-10T06:14:24Z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2017-02-01T11:00:00Z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2018-12-06T11:00:00Z</vt:filetime>
  </property>
  <property fmtid="{D5CDD505-2E9C-101B-9397-08002B2CF9AE}" pid="5" name="ICV">
    <vt:lpwstr>80751CEE249745D19110EB662D541721_13</vt:lpwstr>
  </property>
  <property fmtid="{D5CDD505-2E9C-101B-9397-08002B2CF9AE}" pid="6" name="KSOProductBuildVer">
    <vt:lpwstr>1033-12.2.0.20795</vt:lpwstr>
  </property>
</Properties>
</file>